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59cea8aeca_0_97:notes"/>
          <p:cNvSpPr txBox="1"/>
          <p:nvPr>
            <p:ph idx="1" type="body"/>
          </p:nvPr>
        </p:nvSpPr>
        <p:spPr>
          <a:xfrm>
            <a:off x="685787" y="4343386"/>
            <a:ext cx="5486400" cy="4114800"/>
          </a:xfrm>
          <a:prstGeom prst="rect">
            <a:avLst/>
          </a:prstGeom>
        </p:spPr>
        <p:txBody>
          <a:bodyPr anchorCtr="0" anchor="t" bIns="81475" lIns="81475" spcFirstLastPara="1" rIns="81475" wrap="square" tIns="81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159cea8aeca_0_97:notes"/>
          <p:cNvSpPr/>
          <p:nvPr>
            <p:ph idx="2" type="sldImg"/>
          </p:nvPr>
        </p:nvSpPr>
        <p:spPr>
          <a:xfrm>
            <a:off x="1143066" y="685795"/>
            <a:ext cx="4572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e813c2b83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e813c2b83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0b6396d0a6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0b6396d0a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0b6396d0a6_2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0b6396d0a6_2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0b6396d0a6_2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0b6396d0a6_2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87003b8e81_66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87003b8e81_66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0b6396d0a6_2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0b6396d0a6_2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0b6396d0a6_2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0b6396d0a6_2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0b6396d0a6_2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0b6396d0a6_2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0b6396d0a6_2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0b6396d0a6_2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0b6396d0a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0b6396d0a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0b6396d0a6_2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0b6396d0a6_2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0b6396d0a6_2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0b6396d0a6_2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0b6396d0a6_2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0b6396d0a6_2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0b6396d0a6_2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0b6396d0a6_2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0b6396d0a6_2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0b6396d0a6_2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0b6396d0a6_2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0b6396d0a6_2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0b6396d0a6_2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0b6396d0a6_2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57172" y="1203299"/>
            <a:ext cx="8228700" cy="29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rtl="0"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rtl="0"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457172" y="1203299"/>
            <a:ext cx="8228700" cy="29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rtl="0"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457172" y="1203299"/>
            <a:ext cx="4015500" cy="29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673927" y="1203299"/>
            <a:ext cx="4015500" cy="29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rtl="0"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rtl="0"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idx="1" type="subTitle"/>
          </p:nvPr>
        </p:nvSpPr>
        <p:spPr>
          <a:xfrm>
            <a:off x="457172" y="205067"/>
            <a:ext cx="8228700" cy="39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rtl="0"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1" type="body"/>
          </p:nvPr>
        </p:nvSpPr>
        <p:spPr>
          <a:xfrm>
            <a:off x="457172" y="1203299"/>
            <a:ext cx="4015500" cy="14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2" type="body"/>
          </p:nvPr>
        </p:nvSpPr>
        <p:spPr>
          <a:xfrm>
            <a:off x="4673927" y="1203299"/>
            <a:ext cx="4015500" cy="29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3" type="body"/>
          </p:nvPr>
        </p:nvSpPr>
        <p:spPr>
          <a:xfrm>
            <a:off x="457172" y="2761220"/>
            <a:ext cx="4015500" cy="14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rtl="0"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" type="body"/>
          </p:nvPr>
        </p:nvSpPr>
        <p:spPr>
          <a:xfrm>
            <a:off x="457172" y="1203299"/>
            <a:ext cx="4015500" cy="29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673927" y="1203299"/>
            <a:ext cx="4015500" cy="14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3" type="body"/>
          </p:nvPr>
        </p:nvSpPr>
        <p:spPr>
          <a:xfrm>
            <a:off x="4673927" y="2761220"/>
            <a:ext cx="4015500" cy="14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rtl="0"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457172" y="1203299"/>
            <a:ext cx="4015500" cy="14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2" type="body"/>
          </p:nvPr>
        </p:nvSpPr>
        <p:spPr>
          <a:xfrm>
            <a:off x="4673927" y="1203299"/>
            <a:ext cx="4015500" cy="14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3" type="body"/>
          </p:nvPr>
        </p:nvSpPr>
        <p:spPr>
          <a:xfrm>
            <a:off x="457172" y="2761220"/>
            <a:ext cx="8228700" cy="14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49" name="Google Shape;49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rtl="0"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" type="body"/>
          </p:nvPr>
        </p:nvSpPr>
        <p:spPr>
          <a:xfrm>
            <a:off x="457172" y="1203299"/>
            <a:ext cx="8228700" cy="14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2" type="body"/>
          </p:nvPr>
        </p:nvSpPr>
        <p:spPr>
          <a:xfrm>
            <a:off x="457172" y="2761220"/>
            <a:ext cx="8228700" cy="14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rtl="0"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/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57" name="Google Shape;57;p12"/>
          <p:cNvSpPr txBox="1"/>
          <p:nvPr>
            <p:ph idx="1" type="body"/>
          </p:nvPr>
        </p:nvSpPr>
        <p:spPr>
          <a:xfrm>
            <a:off x="457172" y="1203299"/>
            <a:ext cx="4015500" cy="14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58" name="Google Shape;58;p12"/>
          <p:cNvSpPr txBox="1"/>
          <p:nvPr>
            <p:ph idx="2" type="body"/>
          </p:nvPr>
        </p:nvSpPr>
        <p:spPr>
          <a:xfrm>
            <a:off x="4673927" y="1203299"/>
            <a:ext cx="4015500" cy="14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3" type="body"/>
          </p:nvPr>
        </p:nvSpPr>
        <p:spPr>
          <a:xfrm>
            <a:off x="457172" y="2761220"/>
            <a:ext cx="4015500" cy="14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4" type="body"/>
          </p:nvPr>
        </p:nvSpPr>
        <p:spPr>
          <a:xfrm>
            <a:off x="4673927" y="2761220"/>
            <a:ext cx="4015500" cy="14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rtl="0"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457172" y="1203299"/>
            <a:ext cx="2649300" cy="14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65" name="Google Shape;65;p13"/>
          <p:cNvSpPr txBox="1"/>
          <p:nvPr>
            <p:ph idx="2" type="body"/>
          </p:nvPr>
        </p:nvSpPr>
        <p:spPr>
          <a:xfrm>
            <a:off x="3239388" y="1203299"/>
            <a:ext cx="2649300" cy="14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3" type="body"/>
          </p:nvPr>
        </p:nvSpPr>
        <p:spPr>
          <a:xfrm>
            <a:off x="6021277" y="1203299"/>
            <a:ext cx="2649300" cy="14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4" type="body"/>
          </p:nvPr>
        </p:nvSpPr>
        <p:spPr>
          <a:xfrm>
            <a:off x="457172" y="2761220"/>
            <a:ext cx="2649300" cy="14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5" type="body"/>
          </p:nvPr>
        </p:nvSpPr>
        <p:spPr>
          <a:xfrm>
            <a:off x="3239388" y="2761220"/>
            <a:ext cx="2649300" cy="14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idx="6" type="body"/>
          </p:nvPr>
        </p:nvSpPr>
        <p:spPr>
          <a:xfrm>
            <a:off x="6021277" y="2761220"/>
            <a:ext cx="2649300" cy="14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rtl="0"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AND_BODY_3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" type="subTitle"/>
          </p:nvPr>
        </p:nvSpPr>
        <p:spPr>
          <a:xfrm>
            <a:off x="457172" y="1203299"/>
            <a:ext cx="8228700" cy="29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74" name="Google Shape;74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rtl="0"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4">
  <p:cSld name="TITLE_AND_BODY_4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-228600" lvl="1" marL="9144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-228600" lvl="3" marL="18288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-228600" lvl="4" marL="22860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-228600" lvl="5" marL="27432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-228600" lvl="6" marL="32004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-228600" lvl="7" marL="36576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-228600" lvl="8" marL="41148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5">
  <p:cSld name="TITLE_AND_BODY_5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-228600" lvl="1" marL="9144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-228600" lvl="3" marL="18288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-228600" lvl="4" marL="22860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-228600" lvl="5" marL="27432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-228600" lvl="6" marL="32004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-228600" lvl="7" marL="36576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-228600" lvl="8" marL="41148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AND_BODY_2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" type="subTitle"/>
          </p:nvPr>
        </p:nvSpPr>
        <p:spPr>
          <a:xfrm>
            <a:off x="457172" y="1203299"/>
            <a:ext cx="8228700" cy="29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rtl="0"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9" name="Google Shape;89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0" name="Google Shape;9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6">
  <p:cSld name="TITLE_AND_BODY_6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-228600" lvl="1" marL="9144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-228600" lvl="3" marL="18288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-228600" lvl="4" marL="22860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-228600" lvl="5" marL="27432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-228600" lvl="6" marL="32004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-228600" lvl="7" marL="36576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-228600" lvl="8" marL="41148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7">
  <p:cSld name="TITLE_AND_BODY_7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-228600" lvl="1" marL="9144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-228600" lvl="3" marL="18288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-228600" lvl="4" marL="22860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-228600" lvl="5" marL="27432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-228600" lvl="6" marL="32004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-228600" lvl="7" marL="36576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-228600" lvl="8" marL="41148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172" y="1203299"/>
            <a:ext cx="8228700" cy="29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/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172" y="4685192"/>
            <a:ext cx="21300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/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7054" y="4685192"/>
            <a:ext cx="28980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/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5842" y="4685192"/>
            <a:ext cx="21300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3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3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3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3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3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3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3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3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3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npac.ijclab.in2p3.fr/download/public/2026/lectures/semester_1/Statistics/NPAC_Statistics_25_26.pdf.html" TargetMode="External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Google Shape;103;p21"/>
          <p:cNvCxnSpPr/>
          <p:nvPr/>
        </p:nvCxnSpPr>
        <p:spPr>
          <a:xfrm rot="10800000">
            <a:off x="414908" y="671882"/>
            <a:ext cx="8350200" cy="0"/>
          </a:xfrm>
          <a:prstGeom prst="straightConnector1">
            <a:avLst/>
          </a:prstGeom>
          <a:noFill/>
          <a:ln cap="flat" cmpd="sng" w="183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" name="Google Shape;104;p21"/>
          <p:cNvCxnSpPr/>
          <p:nvPr/>
        </p:nvCxnSpPr>
        <p:spPr>
          <a:xfrm rot="10800000">
            <a:off x="415235" y="4460812"/>
            <a:ext cx="8350200" cy="0"/>
          </a:xfrm>
          <a:prstGeom prst="straightConnector1">
            <a:avLst/>
          </a:prstGeom>
          <a:noFill/>
          <a:ln cap="flat" cmpd="sng" w="183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" name="Google Shape;105;p21"/>
          <p:cNvSpPr txBox="1"/>
          <p:nvPr/>
        </p:nvSpPr>
        <p:spPr>
          <a:xfrm>
            <a:off x="0" y="1981200"/>
            <a:ext cx="9143400" cy="12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detection to high-level reconstruction</a:t>
            </a:r>
            <a:endParaRPr b="1"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statistical view on gamma-ray sources</a:t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6" name="Google Shape;10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64894" y="4525158"/>
            <a:ext cx="1276151" cy="428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9920" y="4626864"/>
            <a:ext cx="673120" cy="345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25768" y="4636008"/>
            <a:ext cx="374884" cy="34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1"/>
          <p:cNvSpPr txBox="1"/>
          <p:nvPr/>
        </p:nvSpPr>
        <p:spPr>
          <a:xfrm>
            <a:off x="2475150" y="4599375"/>
            <a:ext cx="419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onathan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Biteau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10" name="Google Shape;110;p21"/>
          <p:cNvSpPr txBox="1"/>
          <p:nvPr/>
        </p:nvSpPr>
        <p:spPr>
          <a:xfrm>
            <a:off x="417750" y="4599375"/>
            <a:ext cx="419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2025.11.03, Č Astronomy Data School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/>
        </p:nvSpPr>
        <p:spPr>
          <a:xfrm>
            <a:off x="650" y="-150"/>
            <a:ext cx="9143400" cy="51435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0825" lIns="0" spcFirstLastPara="1" rIns="0" wrap="square" tIns="40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I. Gamma</a:t>
            </a: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-ray astronomy as a c</a:t>
            </a: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ounting experiment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Concepts:</a:t>
            </a:r>
            <a:r>
              <a:rPr i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DL3-DL4-DL5, forward-folding, binomial / Poisson / Gauss, PMF / PDF / CDF / SF</a:t>
            </a:r>
            <a:endParaRPr i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II. Statistical inference</a:t>
            </a:r>
            <a:endParaRPr i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Concepts:</a:t>
            </a:r>
            <a:r>
              <a:rPr i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Bayesian &amp; frequentist, marginalizing &amp; profiling, parameter estimation, (saturated) deviance</a:t>
            </a:r>
            <a:endParaRPr i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III. Model selection</a:t>
            </a:r>
            <a:endParaRPr i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Concepts:</a:t>
            </a:r>
            <a:r>
              <a:rPr i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goodness of fit, residuals &amp; pulls, under-/over-fitting,                                                                                                                 local &amp; global p-values (trial factors / look-elsewhere), likelihood ratio test, significance level, Li &amp; Ma </a:t>
            </a:r>
            <a:endParaRPr i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IV</a:t>
            </a: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Dealing with uncertainties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Concepts:</a:t>
            </a:r>
            <a:r>
              <a:rPr i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covariance, decorrelation energy, bowtie, systematic uncertainties, bracketing / marginalizing</a:t>
            </a:r>
            <a:endParaRPr b="1" sz="1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V. Outro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More… if we have time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6" name="Google Shape;116;p22"/>
          <p:cNvCxnSpPr/>
          <p:nvPr/>
        </p:nvCxnSpPr>
        <p:spPr>
          <a:xfrm rot="10800000">
            <a:off x="414908" y="671882"/>
            <a:ext cx="8350200" cy="0"/>
          </a:xfrm>
          <a:prstGeom prst="straightConnector1">
            <a:avLst/>
          </a:prstGeom>
          <a:noFill/>
          <a:ln cap="flat" cmpd="sng" w="183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22"/>
          <p:cNvCxnSpPr/>
          <p:nvPr/>
        </p:nvCxnSpPr>
        <p:spPr>
          <a:xfrm rot="10800000">
            <a:off x="415235" y="4460812"/>
            <a:ext cx="8350200" cy="0"/>
          </a:xfrm>
          <a:prstGeom prst="straightConnector1">
            <a:avLst/>
          </a:prstGeom>
          <a:noFill/>
          <a:ln cap="flat" cmpd="sng" w="183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3525" y="839400"/>
            <a:ext cx="3436374" cy="3169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3" name="Google Shape;123;p23"/>
          <p:cNvCxnSpPr/>
          <p:nvPr/>
        </p:nvCxnSpPr>
        <p:spPr>
          <a:xfrm rot="10800000">
            <a:off x="414908" y="671882"/>
            <a:ext cx="8350200" cy="0"/>
          </a:xfrm>
          <a:prstGeom prst="straightConnector1">
            <a:avLst/>
          </a:prstGeom>
          <a:noFill/>
          <a:ln cap="flat" cmpd="sng" w="183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4" name="Google Shape;124;p23"/>
          <p:cNvCxnSpPr/>
          <p:nvPr/>
        </p:nvCxnSpPr>
        <p:spPr>
          <a:xfrm rot="10800000">
            <a:off x="415235" y="4460812"/>
            <a:ext cx="8350200" cy="0"/>
          </a:xfrm>
          <a:prstGeom prst="straightConnector1">
            <a:avLst/>
          </a:prstGeom>
          <a:noFill/>
          <a:ln cap="flat" cmpd="sng" w="183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25" name="Google Shape;125;p23"/>
          <p:cNvPicPr preferRelativeResize="0"/>
          <p:nvPr/>
        </p:nvPicPr>
        <p:blipFill rotWithShape="1">
          <a:blip r:embed="rId4">
            <a:alphaModFix/>
          </a:blip>
          <a:srcRect b="0" l="14972" r="15549" t="0"/>
          <a:stretch/>
        </p:blipFill>
        <p:spPr>
          <a:xfrm>
            <a:off x="5658075" y="920525"/>
            <a:ext cx="2026074" cy="2907792"/>
          </a:xfrm>
          <a:prstGeom prst="rect">
            <a:avLst/>
          </a:prstGeom>
          <a:noFill/>
          <a:ln>
            <a:noFill/>
          </a:ln>
          <a:effectLst>
            <a:outerShdw blurRad="71438" rotWithShape="0" algn="bl" dir="5400000" dist="95250">
              <a:srgbClr val="434343">
                <a:alpha val="60000"/>
              </a:srgbClr>
            </a:outerShdw>
          </a:effectLst>
        </p:spPr>
      </p:pic>
      <p:sp>
        <p:nvSpPr>
          <p:cNvPr id="126" name="Google Shape;126;p23"/>
          <p:cNvSpPr txBox="1"/>
          <p:nvPr/>
        </p:nvSpPr>
        <p:spPr>
          <a:xfrm>
            <a:off x="1899675" y="3828325"/>
            <a:ext cx="1671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Chap. 39 - </a:t>
            </a:r>
            <a:r>
              <a:rPr lang="en" sz="1100">
                <a:solidFill>
                  <a:schemeClr val="dk1"/>
                </a:solidFill>
              </a:rPr>
              <a:t>Probability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Chap. 40 - Statistics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27" name="Google Shape;127;p23"/>
          <p:cNvSpPr txBox="1"/>
          <p:nvPr/>
        </p:nvSpPr>
        <p:spPr>
          <a:xfrm>
            <a:off x="1899675" y="671875"/>
            <a:ext cx="1671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[G. Cowan+ ‘24]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28" name="Google Shape;128;p23"/>
          <p:cNvSpPr txBox="1"/>
          <p:nvPr/>
        </p:nvSpPr>
        <p:spPr>
          <a:xfrm>
            <a:off x="5683350" y="3828325"/>
            <a:ext cx="2858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Chap. 14 - Statistical Description of Data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Chap. 15 - Modeling of Data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29" name="Google Shape;129;p23"/>
          <p:cNvSpPr txBox="1"/>
          <p:nvPr/>
        </p:nvSpPr>
        <p:spPr>
          <a:xfrm>
            <a:off x="5658075" y="671875"/>
            <a:ext cx="1671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[W. H. Press+ ‘07]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4" name="Google Shape;134;p24"/>
          <p:cNvCxnSpPr/>
          <p:nvPr/>
        </p:nvCxnSpPr>
        <p:spPr>
          <a:xfrm rot="10800000">
            <a:off x="414908" y="671882"/>
            <a:ext cx="8350200" cy="0"/>
          </a:xfrm>
          <a:prstGeom prst="straightConnector1">
            <a:avLst/>
          </a:prstGeom>
          <a:noFill/>
          <a:ln cap="flat" cmpd="sng" w="183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" name="Google Shape;135;p24"/>
          <p:cNvCxnSpPr/>
          <p:nvPr/>
        </p:nvCxnSpPr>
        <p:spPr>
          <a:xfrm rot="10800000">
            <a:off x="415235" y="4460812"/>
            <a:ext cx="8350200" cy="0"/>
          </a:xfrm>
          <a:prstGeom prst="straightConnector1">
            <a:avLst/>
          </a:prstGeom>
          <a:noFill/>
          <a:ln cap="flat" cmpd="sng" w="183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6" name="Google Shape;136;p24"/>
          <p:cNvSpPr txBox="1"/>
          <p:nvPr/>
        </p:nvSpPr>
        <p:spPr>
          <a:xfrm>
            <a:off x="414900" y="900475"/>
            <a:ext cx="835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Lesson </a:t>
            </a: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adapted</a:t>
            </a: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from my Master 2 notes, available at </a:t>
            </a:r>
            <a:r>
              <a:rPr b="1" lang="en" sz="18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this link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137" name="Google Shape;13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80763" y="1382548"/>
            <a:ext cx="5382477" cy="2838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/>
          <p:nvPr/>
        </p:nvSpPr>
        <p:spPr>
          <a:xfrm>
            <a:off x="650" y="-150"/>
            <a:ext cx="9143400" cy="51435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0825" lIns="0" spcFirstLastPara="1" rIns="0" wrap="square" tIns="40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I. Gamma-ray astronomy as a counting experiment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Concepts:</a:t>
            </a:r>
            <a:r>
              <a:rPr i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DL3-DL4-DL5, forward-folding, binomial / Poisson / Gauss, PMF / PDF / CDF / SF</a:t>
            </a:r>
            <a:endParaRPr i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18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II. Statistical inference</a:t>
            </a:r>
            <a:endParaRPr i="1" sz="18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3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Concepts:</a:t>
            </a:r>
            <a:r>
              <a:rPr i="1" lang="en" sz="13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Bayesian &amp; frequentist, marginalizing &amp; profiling, parameter estimation, (saturated) deviance</a:t>
            </a:r>
            <a:endParaRPr i="1" sz="18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III. Model selection</a:t>
            </a:r>
            <a:endParaRPr i="1" sz="18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Concepts:</a:t>
            </a:r>
            <a:r>
              <a:rPr i="1" lang="en" sz="13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goodness of fit, residuals &amp; pulls, under-/over-fitting,                                                                                                                 local &amp; global p-values (trial factors / look-elsewhere), likelihood ratio test, significance level, Li &amp; Ma </a:t>
            </a:r>
            <a:endParaRPr i="1" sz="18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IV. Dealing with uncertainties</a:t>
            </a:r>
            <a:endParaRPr b="1" sz="18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3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Concepts:</a:t>
            </a:r>
            <a:r>
              <a:rPr i="1" lang="en" sz="13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covariance, decorrelation energy, bowtie, systematic uncertainties, bracketing / marginalizing</a:t>
            </a:r>
            <a:endParaRPr b="1" sz="18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V. Outro</a:t>
            </a:r>
            <a:endParaRPr b="1" sz="18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3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More… if we have time</a:t>
            </a:r>
            <a:endParaRPr b="1" sz="18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" name="Google Shape;143;p25"/>
          <p:cNvCxnSpPr/>
          <p:nvPr/>
        </p:nvCxnSpPr>
        <p:spPr>
          <a:xfrm rot="10800000">
            <a:off x="414908" y="671882"/>
            <a:ext cx="8350200" cy="0"/>
          </a:xfrm>
          <a:prstGeom prst="straightConnector1">
            <a:avLst/>
          </a:prstGeom>
          <a:noFill/>
          <a:ln cap="flat" cmpd="sng" w="183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4" name="Google Shape;144;p25"/>
          <p:cNvCxnSpPr/>
          <p:nvPr/>
        </p:nvCxnSpPr>
        <p:spPr>
          <a:xfrm rot="10800000">
            <a:off x="415235" y="4460812"/>
            <a:ext cx="8350200" cy="0"/>
          </a:xfrm>
          <a:prstGeom prst="straightConnector1">
            <a:avLst/>
          </a:prstGeom>
          <a:noFill/>
          <a:ln cap="flat" cmpd="sng" w="183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/>
          <p:nvPr/>
        </p:nvSpPr>
        <p:spPr>
          <a:xfrm>
            <a:off x="350475" y="346775"/>
            <a:ext cx="84201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25" spcFirstLastPara="1" rIns="81625" wrap="square" tIns="40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Gamma-ray astronomy as a counting experiment</a:t>
            </a:r>
            <a:endParaRPr b="0" sz="22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0" name="Google Shape;150;p26"/>
          <p:cNvCxnSpPr/>
          <p:nvPr/>
        </p:nvCxnSpPr>
        <p:spPr>
          <a:xfrm rot="10800000">
            <a:off x="414848" y="824092"/>
            <a:ext cx="8347500" cy="0"/>
          </a:xfrm>
          <a:prstGeom prst="straightConnector1">
            <a:avLst/>
          </a:prstGeom>
          <a:noFill/>
          <a:ln cap="flat" cmpd="sng" w="183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p26"/>
          <p:cNvSpPr txBox="1"/>
          <p:nvPr/>
        </p:nvSpPr>
        <p:spPr>
          <a:xfrm>
            <a:off x="8566034" y="4876650"/>
            <a:ext cx="5778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25" spcFirstLastPara="1" rIns="274300" wrap="square" tIns="40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" sz="1100">
                <a:solidFill>
                  <a:srgbClr val="000000"/>
                </a:solidFill>
              </a:rPr>
              <a:t>‹#›</a:t>
            </a:fld>
            <a:endParaRPr sz="1100">
              <a:solidFill>
                <a:srgbClr val="000000"/>
              </a:solidFill>
            </a:endParaRPr>
          </a:p>
        </p:txBody>
      </p:sp>
      <p:pic>
        <p:nvPicPr>
          <p:cNvPr id="152" name="Google Shape;152;p26"/>
          <p:cNvPicPr preferRelativeResize="0"/>
          <p:nvPr/>
        </p:nvPicPr>
        <p:blipFill rotWithShape="1">
          <a:blip r:embed="rId3">
            <a:alphaModFix/>
          </a:blip>
          <a:srcRect b="0" l="2219" r="0" t="26400"/>
          <a:stretch/>
        </p:blipFill>
        <p:spPr>
          <a:xfrm>
            <a:off x="414850" y="1082525"/>
            <a:ext cx="8324852" cy="3843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6"/>
          <p:cNvSpPr/>
          <p:nvPr/>
        </p:nvSpPr>
        <p:spPr>
          <a:xfrm>
            <a:off x="8035175" y="4306500"/>
            <a:ext cx="531000" cy="535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6"/>
          <p:cNvSpPr txBox="1"/>
          <p:nvPr/>
        </p:nvSpPr>
        <p:spPr>
          <a:xfrm>
            <a:off x="414850" y="470970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[GammaPy team, CTAO School 2024]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 txBox="1"/>
          <p:nvPr/>
        </p:nvSpPr>
        <p:spPr>
          <a:xfrm>
            <a:off x="350475" y="346775"/>
            <a:ext cx="84201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25" spcFirstLastPara="1" rIns="81625" wrap="square" tIns="40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Gamma-ray astronomy as a counting experiment</a:t>
            </a:r>
            <a:endParaRPr b="0" sz="22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0" name="Google Shape;160;p27"/>
          <p:cNvCxnSpPr/>
          <p:nvPr/>
        </p:nvCxnSpPr>
        <p:spPr>
          <a:xfrm rot="10800000">
            <a:off x="414848" y="824092"/>
            <a:ext cx="8347500" cy="0"/>
          </a:xfrm>
          <a:prstGeom prst="straightConnector1">
            <a:avLst/>
          </a:prstGeom>
          <a:noFill/>
          <a:ln cap="flat" cmpd="sng" w="183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" name="Google Shape;161;p27"/>
          <p:cNvSpPr txBox="1"/>
          <p:nvPr/>
        </p:nvSpPr>
        <p:spPr>
          <a:xfrm>
            <a:off x="8566034" y="4876650"/>
            <a:ext cx="5778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25" spcFirstLastPara="1" rIns="274300" wrap="square" tIns="40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" sz="1100">
                <a:solidFill>
                  <a:srgbClr val="000000"/>
                </a:solidFill>
              </a:rPr>
              <a:t>‹#›</a:t>
            </a:fld>
            <a:endParaRPr sz="1100">
              <a:solidFill>
                <a:srgbClr val="000000"/>
              </a:solidFill>
            </a:endParaRPr>
          </a:p>
        </p:txBody>
      </p:sp>
      <p:sp>
        <p:nvSpPr>
          <p:cNvPr id="162" name="Google Shape;162;p27"/>
          <p:cNvSpPr/>
          <p:nvPr/>
        </p:nvSpPr>
        <p:spPr>
          <a:xfrm>
            <a:off x="8035175" y="4306500"/>
            <a:ext cx="531000" cy="535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7"/>
          <p:cNvSpPr txBox="1"/>
          <p:nvPr/>
        </p:nvSpPr>
        <p:spPr>
          <a:xfrm>
            <a:off x="414850" y="470970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[GammaPy team, CTAO School 2024]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64" name="Google Shape;16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850" y="1188720"/>
            <a:ext cx="8475347" cy="3261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/>
          <p:nvPr/>
        </p:nvSpPr>
        <p:spPr>
          <a:xfrm>
            <a:off x="350475" y="346775"/>
            <a:ext cx="84201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25" spcFirstLastPara="1" rIns="81625" wrap="square" tIns="40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Gamma-ray astronomy as a counting experiment</a:t>
            </a:r>
            <a:endParaRPr b="0" sz="22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" name="Google Shape;170;p28"/>
          <p:cNvCxnSpPr/>
          <p:nvPr/>
        </p:nvCxnSpPr>
        <p:spPr>
          <a:xfrm rot="10800000">
            <a:off x="414848" y="824092"/>
            <a:ext cx="8347500" cy="0"/>
          </a:xfrm>
          <a:prstGeom prst="straightConnector1">
            <a:avLst/>
          </a:prstGeom>
          <a:noFill/>
          <a:ln cap="flat" cmpd="sng" w="183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" name="Google Shape;171;p28"/>
          <p:cNvSpPr txBox="1"/>
          <p:nvPr/>
        </p:nvSpPr>
        <p:spPr>
          <a:xfrm>
            <a:off x="8566034" y="4876650"/>
            <a:ext cx="5778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25" spcFirstLastPara="1" rIns="274300" wrap="square" tIns="40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" sz="1100">
                <a:solidFill>
                  <a:srgbClr val="000000"/>
                </a:solidFill>
              </a:rPr>
              <a:t>‹#›</a:t>
            </a:fld>
            <a:endParaRPr sz="1100">
              <a:solidFill>
                <a:srgbClr val="000000"/>
              </a:solidFill>
            </a:endParaRPr>
          </a:p>
        </p:txBody>
      </p:sp>
      <p:sp>
        <p:nvSpPr>
          <p:cNvPr id="172" name="Google Shape;172;p28"/>
          <p:cNvSpPr/>
          <p:nvPr/>
        </p:nvSpPr>
        <p:spPr>
          <a:xfrm>
            <a:off x="8035175" y="4306500"/>
            <a:ext cx="531000" cy="535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8"/>
          <p:cNvSpPr txBox="1"/>
          <p:nvPr/>
        </p:nvSpPr>
        <p:spPr>
          <a:xfrm>
            <a:off x="414850" y="470970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[GammaPy team, CTAO School 2024]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74" name="Google Shape;17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850" y="1188720"/>
            <a:ext cx="8469979" cy="326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550" y="908125"/>
            <a:ext cx="7469298" cy="3261624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9"/>
          <p:cNvSpPr txBox="1"/>
          <p:nvPr/>
        </p:nvSpPr>
        <p:spPr>
          <a:xfrm>
            <a:off x="350475" y="346775"/>
            <a:ext cx="84201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25" spcFirstLastPara="1" rIns="81625" wrap="square" tIns="40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Gamma-ray astronomy as a counting experiment</a:t>
            </a:r>
            <a:endParaRPr b="0" sz="22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1" name="Google Shape;181;p29"/>
          <p:cNvCxnSpPr/>
          <p:nvPr/>
        </p:nvCxnSpPr>
        <p:spPr>
          <a:xfrm rot="10800000">
            <a:off x="414848" y="824092"/>
            <a:ext cx="8347500" cy="0"/>
          </a:xfrm>
          <a:prstGeom prst="straightConnector1">
            <a:avLst/>
          </a:prstGeom>
          <a:noFill/>
          <a:ln cap="flat" cmpd="sng" w="183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2" name="Google Shape;182;p29"/>
          <p:cNvSpPr txBox="1"/>
          <p:nvPr/>
        </p:nvSpPr>
        <p:spPr>
          <a:xfrm>
            <a:off x="8566034" y="4876650"/>
            <a:ext cx="5778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25" spcFirstLastPara="1" rIns="274300" wrap="square" tIns="40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" sz="1100">
                <a:solidFill>
                  <a:srgbClr val="000000"/>
                </a:solidFill>
              </a:rPr>
              <a:t>‹#›</a:t>
            </a:fld>
            <a:endParaRPr sz="1100">
              <a:solidFill>
                <a:srgbClr val="000000"/>
              </a:solidFill>
            </a:endParaRPr>
          </a:p>
        </p:txBody>
      </p:sp>
      <p:sp>
        <p:nvSpPr>
          <p:cNvPr id="183" name="Google Shape;183;p29"/>
          <p:cNvSpPr/>
          <p:nvPr/>
        </p:nvSpPr>
        <p:spPr>
          <a:xfrm>
            <a:off x="8035175" y="4306500"/>
            <a:ext cx="531000" cy="535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9"/>
          <p:cNvSpPr txBox="1"/>
          <p:nvPr/>
        </p:nvSpPr>
        <p:spPr>
          <a:xfrm>
            <a:off x="536625" y="3773275"/>
            <a:ext cx="4941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[CTAO Doc]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5" name="Google Shape;185;p29"/>
          <p:cNvSpPr txBox="1"/>
          <p:nvPr/>
        </p:nvSpPr>
        <p:spPr>
          <a:xfrm>
            <a:off x="414850" y="4206240"/>
            <a:ext cx="7407600" cy="8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Forward folding 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Convolve true emission (i.e. model as a function of true energy, direction…) 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with transfer matrix (Instrument Response Function linking true and observed quantities) 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100"/>
              <a:t>to enable a comparison to data in the observed space</a:t>
            </a:r>
            <a:endParaRPr sz="1300" u="sng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0"/>
          <p:cNvSpPr txBox="1"/>
          <p:nvPr/>
        </p:nvSpPr>
        <p:spPr>
          <a:xfrm>
            <a:off x="350475" y="346775"/>
            <a:ext cx="84201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25" spcFirstLastPara="1" rIns="81625" wrap="square" tIns="40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Gamma-ray astronomy as a counting experiment</a:t>
            </a:r>
            <a:endParaRPr b="0" sz="22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1" name="Google Shape;191;p30"/>
          <p:cNvCxnSpPr/>
          <p:nvPr/>
        </p:nvCxnSpPr>
        <p:spPr>
          <a:xfrm rot="10800000">
            <a:off x="414848" y="824092"/>
            <a:ext cx="8347500" cy="0"/>
          </a:xfrm>
          <a:prstGeom prst="straightConnector1">
            <a:avLst/>
          </a:prstGeom>
          <a:noFill/>
          <a:ln cap="flat" cmpd="sng" w="183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" name="Google Shape;192;p30"/>
          <p:cNvSpPr txBox="1"/>
          <p:nvPr/>
        </p:nvSpPr>
        <p:spPr>
          <a:xfrm>
            <a:off x="8566034" y="4876650"/>
            <a:ext cx="5778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25" spcFirstLastPara="1" rIns="274300" wrap="square" tIns="40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" sz="1100">
                <a:solidFill>
                  <a:srgbClr val="000000"/>
                </a:solidFill>
              </a:rPr>
              <a:t>‹#›</a:t>
            </a:fld>
            <a:endParaRPr sz="1100">
              <a:solidFill>
                <a:srgbClr val="000000"/>
              </a:solidFill>
            </a:endParaRPr>
          </a:p>
        </p:txBody>
      </p:sp>
      <p:sp>
        <p:nvSpPr>
          <p:cNvPr id="193" name="Google Shape;193;p30"/>
          <p:cNvSpPr/>
          <p:nvPr/>
        </p:nvSpPr>
        <p:spPr>
          <a:xfrm>
            <a:off x="8035175" y="4306500"/>
            <a:ext cx="531000" cy="535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30"/>
          <p:cNvSpPr txBox="1"/>
          <p:nvPr/>
        </p:nvSpPr>
        <p:spPr>
          <a:xfrm>
            <a:off x="3843850" y="4557300"/>
            <a:ext cx="4941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[GammaPy team, CTAO School 2024]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95" name="Google Shape;19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550" y="908125"/>
            <a:ext cx="7469298" cy="3261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3850" y="1163113"/>
            <a:ext cx="5596723" cy="3207552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7" name="Google Shape;197;p30"/>
          <p:cNvSpPr/>
          <p:nvPr/>
        </p:nvSpPr>
        <p:spPr>
          <a:xfrm>
            <a:off x="3149250" y="2148840"/>
            <a:ext cx="60900" cy="354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0"/>
          <p:cNvSpPr txBox="1"/>
          <p:nvPr/>
        </p:nvSpPr>
        <p:spPr>
          <a:xfrm>
            <a:off x="414850" y="4206240"/>
            <a:ext cx="7407600" cy="8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Forward folding 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Convolve true emission (i.e. model as a function of true energy, direction…) 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with transfer matrix (Instrument Response Function linking true and observed quantities) 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100"/>
              <a:t>to enable a comparison to data in the observed space</a:t>
            </a:r>
            <a:endParaRPr sz="1300" u="sng">
              <a:solidFill>
                <a:schemeClr val="dk1"/>
              </a:solidFill>
            </a:endParaRPr>
          </a:p>
        </p:txBody>
      </p:sp>
      <p:sp>
        <p:nvSpPr>
          <p:cNvPr id="199" name="Google Shape;199;p30"/>
          <p:cNvSpPr txBox="1"/>
          <p:nvPr/>
        </p:nvSpPr>
        <p:spPr>
          <a:xfrm>
            <a:off x="536625" y="3773275"/>
            <a:ext cx="4941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[CTAO Doc]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1"/>
          <p:cNvSpPr txBox="1"/>
          <p:nvPr/>
        </p:nvSpPr>
        <p:spPr>
          <a:xfrm>
            <a:off x="350475" y="346775"/>
            <a:ext cx="84201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25" spcFirstLastPara="1" rIns="81625" wrap="square" tIns="40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Gamma-ray astronomy as a counting experiment</a:t>
            </a:r>
            <a:endParaRPr b="0" sz="22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5" name="Google Shape;205;p31"/>
          <p:cNvCxnSpPr/>
          <p:nvPr/>
        </p:nvCxnSpPr>
        <p:spPr>
          <a:xfrm rot="10800000">
            <a:off x="414848" y="824092"/>
            <a:ext cx="8347500" cy="0"/>
          </a:xfrm>
          <a:prstGeom prst="straightConnector1">
            <a:avLst/>
          </a:prstGeom>
          <a:noFill/>
          <a:ln cap="flat" cmpd="sng" w="183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6" name="Google Shape;206;p31"/>
          <p:cNvSpPr txBox="1"/>
          <p:nvPr/>
        </p:nvSpPr>
        <p:spPr>
          <a:xfrm>
            <a:off x="8566034" y="4876650"/>
            <a:ext cx="5778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25" spcFirstLastPara="1" rIns="274300" wrap="square" tIns="40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" sz="1100">
                <a:solidFill>
                  <a:srgbClr val="000000"/>
                </a:solidFill>
              </a:rPr>
              <a:t>‹#›</a:t>
            </a:fld>
            <a:endParaRPr sz="1100">
              <a:solidFill>
                <a:srgbClr val="000000"/>
              </a:solidFill>
            </a:endParaRPr>
          </a:p>
        </p:txBody>
      </p:sp>
      <p:sp>
        <p:nvSpPr>
          <p:cNvPr id="207" name="Google Shape;207;p31"/>
          <p:cNvSpPr txBox="1"/>
          <p:nvPr/>
        </p:nvSpPr>
        <p:spPr>
          <a:xfrm>
            <a:off x="414850" y="1403375"/>
            <a:ext cx="37665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27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When Bernoulli meets Poisson and Gauss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300" u="sng">
              <a:solidFill>
                <a:schemeClr val="dk1"/>
              </a:solidFill>
            </a:endParaRPr>
          </a:p>
        </p:txBody>
      </p:sp>
      <p:grpSp>
        <p:nvGrpSpPr>
          <p:cNvPr id="208" name="Google Shape;208;p31"/>
          <p:cNvGrpSpPr/>
          <p:nvPr/>
        </p:nvGrpSpPr>
        <p:grpSpPr>
          <a:xfrm>
            <a:off x="243605" y="1835210"/>
            <a:ext cx="8537598" cy="2181175"/>
            <a:chOff x="470350" y="2927750"/>
            <a:chExt cx="8404802" cy="2147249"/>
          </a:xfrm>
        </p:grpSpPr>
        <p:pic>
          <p:nvPicPr>
            <p:cNvPr id="209" name="Google Shape;209;p31"/>
            <p:cNvPicPr preferRelativeResize="0"/>
            <p:nvPr/>
          </p:nvPicPr>
          <p:blipFill rotWithShape="1">
            <a:blip r:embed="rId3">
              <a:alphaModFix/>
            </a:blip>
            <a:srcRect b="0" l="0" r="0" t="48723"/>
            <a:stretch/>
          </p:blipFill>
          <p:spPr>
            <a:xfrm>
              <a:off x="3306225" y="2927750"/>
              <a:ext cx="5568927" cy="21472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" name="Google Shape;210;p31"/>
            <p:cNvPicPr preferRelativeResize="0"/>
            <p:nvPr/>
          </p:nvPicPr>
          <p:blipFill rotWithShape="1">
            <a:blip r:embed="rId3">
              <a:alphaModFix/>
            </a:blip>
            <a:srcRect b="50563" l="0" r="48867" t="0"/>
            <a:stretch/>
          </p:blipFill>
          <p:spPr>
            <a:xfrm>
              <a:off x="470350" y="2980944"/>
              <a:ext cx="2847524" cy="207019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2"/>
          <p:cNvSpPr txBox="1"/>
          <p:nvPr/>
        </p:nvSpPr>
        <p:spPr>
          <a:xfrm>
            <a:off x="350475" y="346775"/>
            <a:ext cx="84201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25" spcFirstLastPara="1" rIns="81625" wrap="square" tIns="40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Gamma-ray astronomy as a counting experiment</a:t>
            </a:r>
            <a:endParaRPr b="0" sz="22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6" name="Google Shape;216;p32"/>
          <p:cNvCxnSpPr/>
          <p:nvPr/>
        </p:nvCxnSpPr>
        <p:spPr>
          <a:xfrm rot="10800000">
            <a:off x="414848" y="824092"/>
            <a:ext cx="8347500" cy="0"/>
          </a:xfrm>
          <a:prstGeom prst="straightConnector1">
            <a:avLst/>
          </a:prstGeom>
          <a:noFill/>
          <a:ln cap="flat" cmpd="sng" w="183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7" name="Google Shape;217;p32"/>
          <p:cNvSpPr txBox="1"/>
          <p:nvPr/>
        </p:nvSpPr>
        <p:spPr>
          <a:xfrm>
            <a:off x="8566034" y="4876650"/>
            <a:ext cx="5778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25" spcFirstLastPara="1" rIns="274300" wrap="square" tIns="40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" sz="1100">
                <a:solidFill>
                  <a:srgbClr val="000000"/>
                </a:solidFill>
              </a:rPr>
              <a:t>‹#›</a:t>
            </a:fld>
            <a:endParaRPr sz="1100">
              <a:solidFill>
                <a:srgbClr val="000000"/>
              </a:solidFill>
            </a:endParaRPr>
          </a:p>
        </p:txBody>
      </p:sp>
      <p:sp>
        <p:nvSpPr>
          <p:cNvPr id="218" name="Google Shape;218;p32"/>
          <p:cNvSpPr txBox="1"/>
          <p:nvPr/>
        </p:nvSpPr>
        <p:spPr>
          <a:xfrm>
            <a:off x="414850" y="1022375"/>
            <a:ext cx="37665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27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From </a:t>
            </a:r>
            <a:r>
              <a:rPr b="1" lang="en" sz="1300"/>
              <a:t>Gauss PMF to Gauss PDF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300" u="sng">
              <a:solidFill>
                <a:schemeClr val="dk1"/>
              </a:solidFill>
            </a:endParaRPr>
          </a:p>
        </p:txBody>
      </p:sp>
      <p:pic>
        <p:nvPicPr>
          <p:cNvPr id="219" name="Google Shape;21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5975" y="1403850"/>
            <a:ext cx="4657850" cy="3520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3"/>
          <p:cNvSpPr txBox="1"/>
          <p:nvPr/>
        </p:nvSpPr>
        <p:spPr>
          <a:xfrm>
            <a:off x="650" y="-150"/>
            <a:ext cx="9143400" cy="51435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0825" lIns="0" spcFirstLastPara="1" rIns="0" wrap="square" tIns="40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I. Gamma-ray astronomy as a counting experiment</a:t>
            </a:r>
            <a:endParaRPr b="1" sz="18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Concepts:</a:t>
            </a:r>
            <a:r>
              <a:rPr i="1" lang="en" sz="13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DL3-DL4-DL5, forward-folding, binomial / Poisson / Gauss, PMF / PDF / CDF / SF</a:t>
            </a:r>
            <a:endParaRPr i="1" sz="13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II. Statistical inference</a:t>
            </a:r>
            <a:endParaRPr i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Concepts:</a:t>
            </a:r>
            <a:r>
              <a:rPr i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Bayesian &amp; frequentist, marginalizing &amp; profiling, parameter estimation, (saturated) deviance</a:t>
            </a:r>
            <a:endParaRPr i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III. Model selection</a:t>
            </a:r>
            <a:endParaRPr i="1" sz="18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Concepts:</a:t>
            </a:r>
            <a:r>
              <a:rPr i="1" lang="en" sz="13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goodness of fit, residuals &amp; pulls, under-/over-fitting,                                                                                                                 local &amp; global p-values (trial factors / look-elsewhere), likelihood ratio test, significance level, Li &amp; Ma </a:t>
            </a:r>
            <a:endParaRPr i="1" sz="18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IV. Dealing with uncertainties</a:t>
            </a:r>
            <a:endParaRPr b="1" sz="18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3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Concepts:</a:t>
            </a:r>
            <a:r>
              <a:rPr i="1" lang="en" sz="13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covariance, decorrelation energy, bowtie, systematic uncertainties, bracketing / marginalizing</a:t>
            </a:r>
            <a:endParaRPr b="1" sz="18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V. Outro</a:t>
            </a:r>
            <a:endParaRPr b="1" sz="18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3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More… if we have time</a:t>
            </a:r>
            <a:endParaRPr b="1" sz="18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5" name="Google Shape;225;p33"/>
          <p:cNvCxnSpPr/>
          <p:nvPr/>
        </p:nvCxnSpPr>
        <p:spPr>
          <a:xfrm rot="10800000">
            <a:off x="414908" y="671882"/>
            <a:ext cx="8350200" cy="0"/>
          </a:xfrm>
          <a:prstGeom prst="straightConnector1">
            <a:avLst/>
          </a:prstGeom>
          <a:noFill/>
          <a:ln cap="flat" cmpd="sng" w="183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6" name="Google Shape;226;p33"/>
          <p:cNvCxnSpPr/>
          <p:nvPr/>
        </p:nvCxnSpPr>
        <p:spPr>
          <a:xfrm rot="10800000">
            <a:off x="415235" y="4460812"/>
            <a:ext cx="8350200" cy="0"/>
          </a:xfrm>
          <a:prstGeom prst="straightConnector1">
            <a:avLst/>
          </a:prstGeom>
          <a:noFill/>
          <a:ln cap="flat" cmpd="sng" w="183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4"/>
          <p:cNvSpPr txBox="1"/>
          <p:nvPr/>
        </p:nvSpPr>
        <p:spPr>
          <a:xfrm>
            <a:off x="350475" y="346775"/>
            <a:ext cx="84201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25" spcFirstLastPara="1" rIns="81625" wrap="square" tIns="40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Statistical inference</a:t>
            </a:r>
            <a:endParaRPr b="0" sz="22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2" name="Google Shape;232;p34"/>
          <p:cNvCxnSpPr/>
          <p:nvPr/>
        </p:nvCxnSpPr>
        <p:spPr>
          <a:xfrm rot="10800000">
            <a:off x="414848" y="824092"/>
            <a:ext cx="8347500" cy="0"/>
          </a:xfrm>
          <a:prstGeom prst="straightConnector1">
            <a:avLst/>
          </a:prstGeom>
          <a:noFill/>
          <a:ln cap="flat" cmpd="sng" w="183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3" name="Google Shape;233;p34"/>
          <p:cNvSpPr txBox="1"/>
          <p:nvPr/>
        </p:nvSpPr>
        <p:spPr>
          <a:xfrm>
            <a:off x="8566034" y="4876650"/>
            <a:ext cx="5778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25" spcFirstLastPara="1" rIns="274300" wrap="square" tIns="40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" sz="1100">
                <a:solidFill>
                  <a:srgbClr val="000000"/>
                </a:solidFill>
              </a:rPr>
              <a:t>‹#›</a:t>
            </a:fld>
            <a:endParaRPr sz="1100">
              <a:solidFill>
                <a:srgbClr val="000000"/>
              </a:solidFill>
            </a:endParaRPr>
          </a:p>
        </p:txBody>
      </p:sp>
      <p:sp>
        <p:nvSpPr>
          <p:cNvPr id="234" name="Google Shape;234;p34"/>
          <p:cNvSpPr txBox="1"/>
          <p:nvPr/>
        </p:nvSpPr>
        <p:spPr>
          <a:xfrm>
            <a:off x="414850" y="1403375"/>
            <a:ext cx="37665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27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Hessian and covariance matrix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300" u="sng">
              <a:solidFill>
                <a:schemeClr val="dk1"/>
              </a:solidFill>
            </a:endParaRPr>
          </a:p>
        </p:txBody>
      </p:sp>
      <p:grpSp>
        <p:nvGrpSpPr>
          <p:cNvPr id="235" name="Google Shape;235;p34"/>
          <p:cNvGrpSpPr/>
          <p:nvPr/>
        </p:nvGrpSpPr>
        <p:grpSpPr>
          <a:xfrm>
            <a:off x="414847" y="1777011"/>
            <a:ext cx="8377473" cy="2457595"/>
            <a:chOff x="-1543225" y="1347850"/>
            <a:chExt cx="7499976" cy="2200175"/>
          </a:xfrm>
        </p:grpSpPr>
        <p:pic>
          <p:nvPicPr>
            <p:cNvPr id="236" name="Google Shape;236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052150" y="1347850"/>
              <a:ext cx="3904601" cy="22001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7" name="Google Shape;237;p34"/>
            <p:cNvPicPr preferRelativeResize="0"/>
            <p:nvPr/>
          </p:nvPicPr>
          <p:blipFill rotWithShape="1">
            <a:blip r:embed="rId4">
              <a:alphaModFix/>
            </a:blip>
            <a:srcRect b="4826" l="1200" r="38148" t="5285"/>
            <a:stretch/>
          </p:blipFill>
          <p:spPr>
            <a:xfrm>
              <a:off x="-1543225" y="1347850"/>
              <a:ext cx="3395224" cy="18862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8" name="Google Shape;238;p34"/>
          <p:cNvSpPr txBox="1"/>
          <p:nvPr/>
        </p:nvSpPr>
        <p:spPr>
          <a:xfrm>
            <a:off x="4677250" y="3950425"/>
            <a:ext cx="1671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[G. Cowan+ ‘24]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39" name="Google Shape;239;p34"/>
          <p:cNvSpPr txBox="1"/>
          <p:nvPr/>
        </p:nvSpPr>
        <p:spPr>
          <a:xfrm>
            <a:off x="410050" y="3950425"/>
            <a:ext cx="1671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[GammaPy team]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5"/>
          <p:cNvSpPr txBox="1"/>
          <p:nvPr/>
        </p:nvSpPr>
        <p:spPr>
          <a:xfrm>
            <a:off x="650" y="-150"/>
            <a:ext cx="9143400" cy="51435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0825" lIns="0" spcFirstLastPara="1" rIns="0" wrap="square" tIns="40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I. Gamma-ray astronomy as a counting experiment</a:t>
            </a:r>
            <a:endParaRPr b="1" sz="18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Concepts:</a:t>
            </a:r>
            <a:r>
              <a:rPr i="1" lang="en" sz="13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DL3-DL4-DL5, forward-folding, binomial / Poisson / Gauss, PMF / PDF / CDF / SF</a:t>
            </a:r>
            <a:endParaRPr i="1" sz="13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18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II. Statistical inference</a:t>
            </a:r>
            <a:endParaRPr i="1" sz="18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3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Concepts:</a:t>
            </a:r>
            <a:r>
              <a:rPr i="1" lang="en" sz="13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Bayesian &amp; frequentist, marginalizing &amp; profiling, parameter estimation, (saturated) deviance</a:t>
            </a:r>
            <a:endParaRPr i="1" sz="18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III. Model selection</a:t>
            </a:r>
            <a:endParaRPr i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Concepts:</a:t>
            </a:r>
            <a:r>
              <a:rPr i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goodness of fit, residuals &amp; pulls, under-/over-fitting,                                                                                                                 local &amp; global p-values (trial factors / look-elsewhere), likelihood ratio test, significance level, Li &amp; Ma </a:t>
            </a:r>
            <a:endParaRPr i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IV. Dealing with uncertainties</a:t>
            </a:r>
            <a:endParaRPr b="1" sz="18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3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Concepts:</a:t>
            </a:r>
            <a:r>
              <a:rPr i="1" lang="en" sz="13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covariance, decorrelation energy, bowtie, systematic uncertainties, bracketing / marginalizing</a:t>
            </a:r>
            <a:endParaRPr b="1" sz="18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V. Outro</a:t>
            </a:r>
            <a:endParaRPr b="1" sz="18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3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More… if we have time</a:t>
            </a:r>
            <a:endParaRPr b="1" sz="18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5" name="Google Shape;245;p35"/>
          <p:cNvCxnSpPr/>
          <p:nvPr/>
        </p:nvCxnSpPr>
        <p:spPr>
          <a:xfrm rot="10800000">
            <a:off x="414908" y="671882"/>
            <a:ext cx="8350200" cy="0"/>
          </a:xfrm>
          <a:prstGeom prst="straightConnector1">
            <a:avLst/>
          </a:prstGeom>
          <a:noFill/>
          <a:ln cap="flat" cmpd="sng" w="183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6" name="Google Shape;246;p35"/>
          <p:cNvCxnSpPr/>
          <p:nvPr/>
        </p:nvCxnSpPr>
        <p:spPr>
          <a:xfrm rot="10800000">
            <a:off x="415235" y="4460812"/>
            <a:ext cx="8350200" cy="0"/>
          </a:xfrm>
          <a:prstGeom prst="straightConnector1">
            <a:avLst/>
          </a:prstGeom>
          <a:noFill/>
          <a:ln cap="flat" cmpd="sng" w="183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6"/>
          <p:cNvSpPr txBox="1"/>
          <p:nvPr/>
        </p:nvSpPr>
        <p:spPr>
          <a:xfrm>
            <a:off x="650" y="-150"/>
            <a:ext cx="9143400" cy="51435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0825" lIns="0" spcFirstLastPara="1" rIns="0" wrap="square" tIns="40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I. Gamma-ray astronomy as a counting experiment</a:t>
            </a:r>
            <a:endParaRPr b="1" sz="18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Concepts:</a:t>
            </a:r>
            <a:r>
              <a:rPr i="1" lang="en" sz="13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DL3-DL4-DL5, forward-folding, binomial / Poisson / Gauss, PMF / PDF / CDF / SF</a:t>
            </a:r>
            <a:endParaRPr i="1" sz="13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18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II. Statistical inference</a:t>
            </a:r>
            <a:endParaRPr i="1" sz="18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3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Concepts:</a:t>
            </a:r>
            <a:r>
              <a:rPr i="1" lang="en" sz="13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Bayesian &amp; frequentist, marginalizing &amp; profiling, parameter estimation, (saturated) deviance</a:t>
            </a:r>
            <a:endParaRPr i="1" sz="18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III. Model selection</a:t>
            </a:r>
            <a:endParaRPr i="1" sz="18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Concepts:</a:t>
            </a:r>
            <a:r>
              <a:rPr i="1" lang="en" sz="13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goodness of fit, residuals &amp; pulls, under-/over-fitting,                                                                                                                 local &amp; global p-values (trial factors / look-elsewhere), likelihood ratio test, significance level, Li &amp; Ma </a:t>
            </a:r>
            <a:endParaRPr i="1" sz="18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IV. Dealing with uncertainties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Concepts:</a:t>
            </a:r>
            <a:r>
              <a:rPr i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covariance, decorrelation energy, bowtie, systematic uncertainties, bracketing / marginalizing</a:t>
            </a:r>
            <a:endParaRPr b="1" sz="1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V. Outro</a:t>
            </a:r>
            <a:endParaRPr b="1" sz="18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3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More… if we have time</a:t>
            </a:r>
            <a:endParaRPr b="1" sz="18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2" name="Google Shape;252;p36"/>
          <p:cNvCxnSpPr/>
          <p:nvPr/>
        </p:nvCxnSpPr>
        <p:spPr>
          <a:xfrm rot="10800000">
            <a:off x="414908" y="671882"/>
            <a:ext cx="8350200" cy="0"/>
          </a:xfrm>
          <a:prstGeom prst="straightConnector1">
            <a:avLst/>
          </a:prstGeom>
          <a:noFill/>
          <a:ln cap="flat" cmpd="sng" w="183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3" name="Google Shape;253;p36"/>
          <p:cNvCxnSpPr/>
          <p:nvPr/>
        </p:nvCxnSpPr>
        <p:spPr>
          <a:xfrm rot="10800000">
            <a:off x="415235" y="4460812"/>
            <a:ext cx="8350200" cy="0"/>
          </a:xfrm>
          <a:prstGeom prst="straightConnector1">
            <a:avLst/>
          </a:prstGeom>
          <a:noFill/>
          <a:ln cap="flat" cmpd="sng" w="183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7"/>
          <p:cNvSpPr txBox="1"/>
          <p:nvPr/>
        </p:nvSpPr>
        <p:spPr>
          <a:xfrm>
            <a:off x="350475" y="346775"/>
            <a:ext cx="84201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25" spcFirstLastPara="1" rIns="81625" wrap="square" tIns="40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Dealing with uncertainties</a:t>
            </a:r>
            <a:endParaRPr b="0" sz="22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9" name="Google Shape;259;p37"/>
          <p:cNvCxnSpPr/>
          <p:nvPr/>
        </p:nvCxnSpPr>
        <p:spPr>
          <a:xfrm rot="10800000">
            <a:off x="414848" y="824092"/>
            <a:ext cx="8347500" cy="0"/>
          </a:xfrm>
          <a:prstGeom prst="straightConnector1">
            <a:avLst/>
          </a:prstGeom>
          <a:noFill/>
          <a:ln cap="flat" cmpd="sng" w="183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0" name="Google Shape;260;p37"/>
          <p:cNvSpPr txBox="1"/>
          <p:nvPr/>
        </p:nvSpPr>
        <p:spPr>
          <a:xfrm>
            <a:off x="8566034" y="4876650"/>
            <a:ext cx="5778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25" spcFirstLastPara="1" rIns="274300" wrap="square" tIns="40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" sz="1100">
                <a:solidFill>
                  <a:srgbClr val="000000"/>
                </a:solidFill>
              </a:rPr>
              <a:t>‹#›</a:t>
            </a:fld>
            <a:endParaRPr sz="1100">
              <a:solidFill>
                <a:srgbClr val="000000"/>
              </a:solidFill>
            </a:endParaRPr>
          </a:p>
        </p:txBody>
      </p:sp>
      <p:pic>
        <p:nvPicPr>
          <p:cNvPr id="261" name="Google Shape;26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6825" y="1082050"/>
            <a:ext cx="4667400" cy="3715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7"/>
          <p:cNvSpPr txBox="1"/>
          <p:nvPr/>
        </p:nvSpPr>
        <p:spPr>
          <a:xfrm>
            <a:off x="414850" y="1082050"/>
            <a:ext cx="14847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Bowtie / butterfly</a:t>
            </a:r>
            <a:endParaRPr sz="1300" u="sng">
              <a:solidFill>
                <a:schemeClr val="dk1"/>
              </a:solidFill>
            </a:endParaRPr>
          </a:p>
        </p:txBody>
      </p:sp>
      <p:sp>
        <p:nvSpPr>
          <p:cNvPr id="263" name="Google Shape;263;p37"/>
          <p:cNvSpPr txBox="1"/>
          <p:nvPr/>
        </p:nvSpPr>
        <p:spPr>
          <a:xfrm>
            <a:off x="5159300" y="4590375"/>
            <a:ext cx="1671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[H.E.S.S. Collab.+ ‘14]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8"/>
          <p:cNvSpPr txBox="1"/>
          <p:nvPr/>
        </p:nvSpPr>
        <p:spPr>
          <a:xfrm>
            <a:off x="650" y="-150"/>
            <a:ext cx="9143400" cy="51435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0825" lIns="0" spcFirstLastPara="1" rIns="0" wrap="square" tIns="40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I. Gamma-ray astronomy as a counting experiment</a:t>
            </a:r>
            <a:endParaRPr b="1" sz="18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Concepts:</a:t>
            </a:r>
            <a:r>
              <a:rPr i="1" lang="en" sz="13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DL3-DL4-DL5, forward-folding, binomial / Poisson / Gauss, PMF / PDF / CDF / SF</a:t>
            </a:r>
            <a:endParaRPr i="1" sz="13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18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II. Statistical inference</a:t>
            </a:r>
            <a:endParaRPr i="1" sz="18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3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Concepts:</a:t>
            </a:r>
            <a:r>
              <a:rPr i="1" lang="en" sz="13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Bayesian &amp; frequentist, marginalizing &amp; profiling, parameter estimation, (saturated) deviance</a:t>
            </a:r>
            <a:endParaRPr i="1" sz="18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III. Model selection</a:t>
            </a:r>
            <a:endParaRPr i="1" sz="18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Concepts:</a:t>
            </a:r>
            <a:r>
              <a:rPr i="1" lang="en" sz="13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goodness of fit, residuals &amp; pulls, under-/over-fitting,                                                                                                                 local &amp; global p-values (trial factors / look-elsewhere), likelihood ratio test, significance level, Li &amp; Ma </a:t>
            </a:r>
            <a:endParaRPr i="1" sz="18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IV. Dealing with uncertainties</a:t>
            </a:r>
            <a:endParaRPr b="1" sz="18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3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Concepts:</a:t>
            </a:r>
            <a:r>
              <a:rPr i="1" lang="en" sz="13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covariance, decorrelation energy, bowtie, systematic uncertainties, bracketing / marginalizing</a:t>
            </a:r>
            <a:endParaRPr b="1" sz="18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V. Outro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More… if we have time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9" name="Google Shape;269;p38"/>
          <p:cNvCxnSpPr/>
          <p:nvPr/>
        </p:nvCxnSpPr>
        <p:spPr>
          <a:xfrm rot="10800000">
            <a:off x="414908" y="671882"/>
            <a:ext cx="8350200" cy="0"/>
          </a:xfrm>
          <a:prstGeom prst="straightConnector1">
            <a:avLst/>
          </a:prstGeom>
          <a:noFill/>
          <a:ln cap="flat" cmpd="sng" w="183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0" name="Google Shape;270;p38"/>
          <p:cNvCxnSpPr/>
          <p:nvPr/>
        </p:nvCxnSpPr>
        <p:spPr>
          <a:xfrm rot="10800000">
            <a:off x="415235" y="4460812"/>
            <a:ext cx="8350200" cy="0"/>
          </a:xfrm>
          <a:prstGeom prst="straightConnector1">
            <a:avLst/>
          </a:prstGeom>
          <a:noFill/>
          <a:ln cap="flat" cmpd="sng" w="183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